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7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731520"/>
            <a:ext cx="2194560" cy="2194560"/>
          </a:xfrm>
          <a:prstGeom prst="ellipse">
            <a:avLst/>
          </a:prstGeom>
          <a:solidFill>
            <a:srgbClr val="31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3017520"/>
            <a:ext cx="1371600" cy="1371600"/>
          </a:xfrm>
          <a:prstGeom prst="ellipse">
            <a:avLst/>
          </a:prstGeom>
          <a:solidFill>
            <a:srgbClr val="31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0" y="4114800"/>
            <a:ext cx="914400" cy="914400"/>
          </a:xfrm>
          <a:prstGeom prst="ellipse">
            <a:avLst/>
          </a:prstGeom>
          <a:solidFill>
            <a:srgbClr val="E18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749807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KNAPSACK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CE6F5"/>
                </a:solidFill>
              </a:defRPr>
            </a:pPr>
            <a:r>
              <a:t>An optimization problem in Design and Analysis of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Presented by: 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74A"/>
                </a:solidFill>
                <a:latin typeface="Aptos Display"/>
              </a:defRPr>
            </a:pPr>
            <a:r>
              <a:t>1. What Is the Knapsack Problem?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15EA8"/>
                </a:solidFill>
              </a:defRPr>
            </a:pPr>
            <a:r>
              <a:t>Core idea: maximize value while respecting a weight limit.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A classic optimization problem in which we choose items to maximize total value.</a:t>
            </a:r>
          </a:p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Each item has a weight and a value (profit).</a:t>
            </a:r>
          </a:p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The bag has a fixed capacity, so the total weight cannot exceed that limit.</a:t>
            </a:r>
          </a:p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Goal: obtain the maximum possible value within the capacity.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74A"/>
                </a:solidFill>
                <a:latin typeface="Aptos Display"/>
              </a:defRPr>
            </a:pPr>
            <a:r>
              <a:t>2. Real-Life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15EA8"/>
                </a:solidFill>
              </a:defRPr>
            </a:pPr>
            <a:r>
              <a:t>Imagine packing a bag for a trip.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3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800" b="1">
                <a:solidFill>
                  <a:srgbClr val="315EA8"/>
                </a:solidFill>
              </a:defRPr>
            </a:pPr>
            <a:r>
              <a:t>Bag capacity</a:t>
            </a:r>
          </a:p>
          <a:p>
            <a:pPr algn="ctr">
              <a:spcBef>
                <a:spcPts val="800"/>
              </a:spcBef>
              <a:defRPr sz="1500">
                <a:solidFill>
                  <a:srgbClr val="232A34"/>
                </a:solidFill>
              </a:defRPr>
            </a:pPr>
            <a:r>
              <a:t>7 kg maximum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5448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318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800" b="1">
                <a:solidFill>
                  <a:srgbClr val="318262"/>
                </a:solidFill>
              </a:defRPr>
            </a:pPr>
            <a:r>
              <a:t>Items</a:t>
            </a:r>
          </a:p>
          <a:p>
            <a:pPr algn="ctr">
              <a:spcBef>
                <a:spcPts val="800"/>
              </a:spcBef>
              <a:defRPr sz="1500">
                <a:solidFill>
                  <a:srgbClr val="232A34"/>
                </a:solidFill>
              </a:defRPr>
            </a:pPr>
            <a:r>
              <a:t>Each item has a weight</a:t>
            </a:r>
            <a:br/>
            <a:r>
              <a:t>and a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8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800" b="1">
                <a:solidFill>
                  <a:srgbClr val="E18738"/>
                </a:solidFill>
              </a:defRPr>
            </a:pPr>
            <a:r>
              <a:t>Objective</a:t>
            </a:r>
          </a:p>
          <a:p>
            <a:pPr algn="ctr">
              <a:spcBef>
                <a:spcPts val="800"/>
              </a:spcBef>
              <a:defRPr sz="1500">
                <a:solidFill>
                  <a:srgbClr val="232A34"/>
                </a:solidFill>
              </a:defRPr>
            </a:pPr>
            <a:r>
              <a:t>Choose items with the</a:t>
            </a:r>
            <a:br/>
            <a:r>
              <a:t>highest total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10515600" cy="16459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You cannot exceed the bag’s capacity.</a:t>
            </a:r>
          </a:p>
          <a:p>
            <a:pPr>
              <a:spcAft>
                <a:spcPts val="16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The same idea is used in budgeting, cargo loading, and resource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74A"/>
                </a:solidFill>
                <a:latin typeface="Aptos Display"/>
              </a:defRPr>
            </a:pPr>
            <a:r>
              <a:t>3. Types of Knapsack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15EA8"/>
                </a:solidFill>
              </a:defRPr>
            </a:pPr>
            <a:r>
              <a:t>Different rules lead to different versions.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520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3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800" b="1">
                <a:solidFill>
                  <a:srgbClr val="315EA8"/>
                </a:solidFill>
              </a:defRPr>
            </a:pPr>
            <a:r>
              <a:t>0/1 Knapsack</a:t>
            </a:r>
          </a:p>
          <a:p>
            <a:pPr algn="ctr">
              <a:spcBef>
                <a:spcPts val="800"/>
              </a:spcBef>
              <a:defRPr sz="1500">
                <a:solidFill>
                  <a:srgbClr val="232A34"/>
                </a:solidFill>
              </a:defRPr>
            </a:pPr>
            <a:r>
              <a:t>Take an item completely</a:t>
            </a:r>
            <a:br/>
            <a:r>
              <a:t>or leave it.</a:t>
            </a:r>
            <a:br/>
            <a:r>
              <a:t>Each item can be selected once.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08760"/>
            <a:ext cx="3520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318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800" b="1">
                <a:solidFill>
                  <a:srgbClr val="318262"/>
                </a:solidFill>
              </a:defRPr>
            </a:pPr>
            <a:r>
              <a:t>Fractional Knapsack</a:t>
            </a:r>
          </a:p>
          <a:p>
            <a:pPr algn="ctr">
              <a:spcBef>
                <a:spcPts val="800"/>
              </a:spcBef>
              <a:defRPr sz="1500">
                <a:solidFill>
                  <a:srgbClr val="232A34"/>
                </a:solidFill>
              </a:defRPr>
            </a:pPr>
            <a:r>
              <a:t>Items can be divided.</a:t>
            </a:r>
            <a:br/>
            <a:r>
              <a:t>Take any fraction of an item.</a:t>
            </a:r>
            <a:br/>
            <a:r>
              <a:t>Often solved by value/weight ratio.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508760"/>
            <a:ext cx="3520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18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800" b="1">
                <a:solidFill>
                  <a:srgbClr val="E18738"/>
                </a:solidFill>
              </a:defRPr>
            </a:pPr>
            <a:r>
              <a:t>Unbounded Knapsack</a:t>
            </a:r>
          </a:p>
          <a:p>
            <a:pPr algn="ctr">
              <a:spcBef>
                <a:spcPts val="800"/>
              </a:spcBef>
              <a:defRPr sz="1500">
                <a:solidFill>
                  <a:srgbClr val="232A34"/>
                </a:solidFill>
              </a:defRPr>
            </a:pPr>
            <a:r>
              <a:t>Each item type can be used</a:t>
            </a:r>
            <a:br/>
            <a:r>
              <a:t>multiple times, subject to capacity.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74A"/>
                </a:solidFill>
                <a:latin typeface="Aptos Display"/>
              </a:defRPr>
            </a:pPr>
            <a:r>
              <a:t>4. Mathematical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15EA8"/>
                </a:solidFill>
              </a:defRPr>
            </a:pPr>
            <a:r>
              <a:t>For the 0/1 Knapsack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n = number of items; each item i has value vᵢ and weight wᵢ.</a:t>
            </a:r>
          </a:p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W = maximum capacity of the knapsack.</a:t>
            </a:r>
          </a:p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Decision variable: xᵢ = 1 if item i is selected; otherwise xᵢ = 0.</a:t>
            </a:r>
          </a:p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Maximize:  Σ vᵢxᵢ</a:t>
            </a:r>
          </a:p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Subject to:  Σ wᵢxᵢ ≤ W, and xᵢ ∈ {0, 1}.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74A"/>
                </a:solidFill>
                <a:latin typeface="Aptos Display"/>
              </a:defRPr>
            </a:pPr>
            <a:r>
              <a:t>5.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15EA8"/>
                </a:solidFill>
              </a:defRPr>
            </a:pPr>
            <a:r>
              <a:t>Capacity = 7 kg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08760"/>
          <a:ext cx="64008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94560"/>
              </a:tblGrid>
              <a:tr h="58293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727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Weight (kg)</a:t>
                      </a:r>
                    </a:p>
                  </a:txBody>
                  <a:tcPr>
                    <a:solidFill>
                      <a:srgbClr val="1727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7274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32A34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32A3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32A3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32A34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32A3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32A3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32A34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32A3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32A3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35240" y="1508760"/>
            <a:ext cx="3840480" cy="39319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Possible choice: B + C weighs 3 + 4 = 7 kg.</a:t>
            </a:r>
          </a:p>
          <a:p>
            <a:pPr>
              <a:spcAft>
                <a:spcPts val="16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Total value = 4 + 5 = 9.</a:t>
            </a:r>
          </a:p>
          <a:p>
            <a:pPr>
              <a:spcAft>
                <a:spcPts val="16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This is better than taking A + C (weight 5, value 6) or A + B (weight 4, value 5).</a:t>
            </a:r>
          </a:p>
          <a:p>
            <a:pPr>
              <a:spcAft>
                <a:spcPts val="16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Optimal selection: B and C; maximum value = 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74A"/>
                </a:solidFill>
                <a:latin typeface="Aptos Display"/>
              </a:defRPr>
            </a:pPr>
            <a:r>
              <a:t>6. Methods to Solve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15EA8"/>
                </a:solidFill>
              </a:defRPr>
            </a:pPr>
            <a:r>
              <a:t>The best method depends on the problem variant and input size.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747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31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800" b="1">
                <a:solidFill>
                  <a:srgbClr val="315EA8"/>
                </a:solidFill>
              </a:defRPr>
            </a:pPr>
            <a:r>
              <a:t>Brute Force</a:t>
            </a:r>
          </a:p>
          <a:p>
            <a:pPr algn="ctr">
              <a:spcBef>
                <a:spcPts val="800"/>
              </a:spcBef>
              <a:defRPr sz="1500">
                <a:solidFill>
                  <a:srgbClr val="232A34"/>
                </a:solidFill>
              </a:defRPr>
            </a:pPr>
            <a:r>
              <a:t>Try every subset.</a:t>
            </a:r>
            <a:br/>
            <a:r>
              <a:t>Simple but expensive.</a:t>
            </a:r>
            <a:br/>
            <a:r>
              <a:t>Time: O(2ⁿ)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08760"/>
            <a:ext cx="34747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318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800" b="1">
                <a:solidFill>
                  <a:srgbClr val="318262"/>
                </a:solidFill>
              </a:defRPr>
            </a:pPr>
            <a:r>
              <a:t>Dynamic Programming</a:t>
            </a:r>
          </a:p>
          <a:p>
            <a:pPr algn="ctr">
              <a:spcBef>
                <a:spcPts val="800"/>
              </a:spcBef>
              <a:defRPr sz="1500">
                <a:solidFill>
                  <a:srgbClr val="232A34"/>
                </a:solidFill>
              </a:defRPr>
            </a:pPr>
            <a:r>
              <a:t>Build solutions for smaller capacities and item counts.</a:t>
            </a:r>
            <a:br/>
            <a:r>
              <a:t>Typical 0/1 DP: O(nW)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08760"/>
            <a:ext cx="34747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8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800" b="1">
                <a:solidFill>
                  <a:srgbClr val="E18738"/>
                </a:solidFill>
              </a:defRPr>
            </a:pPr>
            <a:r>
              <a:t>Greedy</a:t>
            </a:r>
          </a:p>
          <a:p>
            <a:pPr algn="ctr">
              <a:spcBef>
                <a:spcPts val="800"/>
              </a:spcBef>
              <a:defRPr sz="1500">
                <a:solidFill>
                  <a:srgbClr val="232A34"/>
                </a:solidFill>
              </a:defRPr>
            </a:pPr>
            <a:r>
              <a:t>Sort by value/weight ratio.</a:t>
            </a:r>
            <a:br/>
            <a:r>
              <a:t>Optimal for fractional knapsack,</a:t>
            </a:r>
            <a:br/>
            <a:r>
              <a:t>but not always for 0/1.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74A"/>
                </a:solidFill>
                <a:latin typeface="Aptos Display"/>
              </a:defRPr>
            </a:pPr>
            <a:r>
              <a:t>7. Dynamic Programming (0/1)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15EA8"/>
                </a:solidFill>
              </a:defRPr>
            </a:pPr>
            <a:r>
              <a:t>Let DP[i][c] be the maximum value using the first i items with capacity 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t>Base case: DP[0][c] = 0 and DP[i][0] = 0.</a:t>
            </a:r>
          </a:p>
          <a:p>
            <a:pPr>
              <a:spcAft>
                <a:spcPts val="16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t>If item i is too heavy (wᵢ &gt; c): DP[i][c] = DP[i−1][c].</a:t>
            </a:r>
          </a:p>
          <a:p>
            <a:pPr>
              <a:spcAft>
                <a:spcPts val="16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t>Otherwise: DP[i][c] = max(DP[i−1][c], vᵢ + DP[i−1][c−wᵢ]).</a:t>
            </a:r>
          </a:p>
          <a:p>
            <a:pPr>
              <a:spcAft>
                <a:spcPts val="16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t>The final answer is DP[n][W].</a:t>
            </a:r>
          </a:p>
          <a:p>
            <a:pPr>
              <a:spcAft>
                <a:spcPts val="16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t>Time: O(nW); space: O(nW) for the full 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74A"/>
                </a:solidFill>
                <a:latin typeface="Aptos Display"/>
              </a:defRPr>
            </a:pPr>
            <a:r>
              <a:t>8.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Budget allocation: choose projects with maximum benefit under a budget.</a:t>
            </a:r>
          </a:p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Cargo loading: maximize the value of goods within a weight limit.</a:t>
            </a:r>
          </a:p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Investment selection: choose opportunities within available funds.</a:t>
            </a:r>
          </a:p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Resource allocation: assign limited computing time, memory, or capacity.</a:t>
            </a:r>
          </a:p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Cutting and packing variants appear in manufacturing and logistics.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74A"/>
                </a:solidFill>
                <a:latin typeface="Aptos Display"/>
              </a:defRPr>
            </a:pPr>
            <a:r>
              <a:t>9. Advantages and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4937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318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800" b="1">
                <a:solidFill>
                  <a:srgbClr val="318262"/>
                </a:solidFill>
              </a:defRPr>
            </a:pPr>
            <a:r>
              <a:t>Advantages</a:t>
            </a:r>
          </a:p>
          <a:p>
            <a:pPr algn="ctr">
              <a:spcBef>
                <a:spcPts val="800"/>
              </a:spcBef>
              <a:defRPr sz="1500">
                <a:solidFill>
                  <a:srgbClr val="232A34"/>
                </a:solidFill>
              </a:defRPr>
            </a:pPr>
            <a:r>
              <a:t>Models many real-world decisions.</a:t>
            </a:r>
            <a:br/>
            <a:r>
              <a:t>Provides a clear optimization goal.</a:t>
            </a:r>
            <a:br/>
            <a:r>
              <a:t>Dynamic programming finds an exact answer for manageable capacities.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554480"/>
            <a:ext cx="4937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8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800" b="1">
                <a:solidFill>
                  <a:srgbClr val="E18738"/>
                </a:solidFill>
              </a:defRPr>
            </a:pPr>
            <a:r>
              <a:t>Limitations</a:t>
            </a:r>
          </a:p>
          <a:p>
            <a:pPr algn="ctr">
              <a:spcBef>
                <a:spcPts val="800"/>
              </a:spcBef>
              <a:defRPr sz="1500">
                <a:solidFill>
                  <a:srgbClr val="232A34"/>
                </a:solidFill>
              </a:defRPr>
            </a:pPr>
            <a:r>
              <a:t>Exact 0/1 knapsack is NP-hard.</a:t>
            </a:r>
            <a:br/>
            <a:r>
              <a:t>DP time depends on numeric capacity W.</a:t>
            </a:r>
            <a:br/>
            <a:r>
              <a:t>Greedy ratio is not always optimal for 0/1 knapsack.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74A"/>
                </a:solidFill>
                <a:latin typeface="Aptos Display"/>
              </a:defRPr>
            </a:pPr>
            <a:r>
              <a:t>10.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15EA8"/>
                </a:solidFill>
              </a:defRPr>
            </a:pPr>
            <a:r>
              <a:t>Key takeaway: select the best combination without exceeding capacity.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Knapsack is about maximizing value under a capacity constraint.</a:t>
            </a:r>
          </a:p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Main variants: 0/1, fractional, and unbounded.</a:t>
            </a:r>
          </a:p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Greedy is suitable for fractional knapsack.</a:t>
            </a:r>
          </a:p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Dynamic programming is a standard method for 0/1 knapsack.</a:t>
            </a:r>
          </a:p>
          <a:p>
            <a:pPr>
              <a:spcAft>
                <a:spcPts val="16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The problem is a fundamental example of optimization in algorithms.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7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DCE6F5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